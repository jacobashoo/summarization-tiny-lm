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3A00196-4656-4872-B375-6AAF28796D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3E2D0D-5A2C-4417-AAC4-DB77B5291C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5A62CB-8B7F-4A65-8682-69A28175CF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E2400A-A82F-4303-ADC9-027B6291CC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04195E-A6B0-4279-AB2E-1A121DEE97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90F027-BCBA-48F2-ACF9-40851F91F4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96944B-B57B-4A09-BFFD-32E716DEB9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22BA87-12C3-4E9E-9C65-0ABB198B90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EBECA7-0FBB-4A0A-AE61-35632D6768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132320" y="365760"/>
            <a:ext cx="3200040" cy="3200040"/>
          </a:xfrm>
          <a:prstGeom prst="ellipse">
            <a:avLst/>
          </a:prstGeom>
          <a:solidFill>
            <a:srgbClr val="0EA5E9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772400" y="914400"/>
            <a:ext cx="2285640" cy="2285640"/>
          </a:xfrm>
          <a:prstGeom prst="ellipse">
            <a:avLst/>
          </a:prstGeom>
          <a:solidFill>
            <a:srgbClr val="14B8A6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31520" y="548640"/>
            <a:ext cx="7772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Abs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trac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tive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Text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Su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mm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ariz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atio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160020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with 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a 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Mode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rn 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Enco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der-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Deco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der 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Trans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form</a:t>
            </a:r>
            <a:r>
              <a:rPr lang="en-US" sz="2600" b="0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er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31520" y="2468880"/>
            <a:ext cx="6857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Building a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Seq2Seq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Transform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er from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scratch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with RoPE,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SwiGLU,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RMSNorm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&amp; Flash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Attention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731520" y="3246120"/>
            <a:ext cx="2011320" cy="270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31520" y="33832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Jacob </a:t>
            </a:r>
            <a:r>
              <a:rPr lang="en-US" sz="16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Ashoo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31520" y="37490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CSI-4130/51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30: Artificial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Intelligence 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|  April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4008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The </a:t>
            </a:r>
            <a:r>
              <a:rPr lang="en-US" sz="32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Chal</a:t>
            </a:r>
            <a:r>
              <a:rPr lang="en-US" sz="32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leng</a:t>
            </a:r>
            <a:r>
              <a:rPr lang="en-US" sz="32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40080" y="777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284C7"/>
                </a:solidFill>
                <a:effectLst/>
                <a:uFillTx/>
                <a:latin typeface="Calibri"/>
                <a:ea typeface="Calibri"/>
              </a:rPr>
              <a:t>Why </a:t>
            </a:r>
            <a:r>
              <a:rPr lang="en-US" sz="1500" b="0" u="none" strike="noStrike">
                <a:solidFill>
                  <a:srgbClr val="0284C7"/>
                </a:solidFill>
                <a:effectLst/>
                <a:uFillTx/>
                <a:latin typeface="Calibri"/>
                <a:ea typeface="Calibri"/>
              </a:rPr>
              <a:t>Abstractiv</a:t>
            </a:r>
            <a:r>
              <a:rPr lang="en-US" sz="1500" b="0" u="none" strike="noStrike">
                <a:solidFill>
                  <a:srgbClr val="0284C7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500" b="0" u="none" strike="noStrike">
                <a:solidFill>
                  <a:srgbClr val="0284C7"/>
                </a:solidFill>
                <a:effectLst/>
                <a:uFillTx/>
                <a:latin typeface="Calibri"/>
                <a:ea typeface="Calibri"/>
              </a:rPr>
              <a:t>Summariz</a:t>
            </a:r>
            <a:r>
              <a:rPr lang="en-US" sz="1500" b="0" u="none" strike="noStrike">
                <a:solidFill>
                  <a:srgbClr val="0284C7"/>
                </a:solidFill>
                <a:effectLst/>
                <a:uFillTx/>
                <a:latin typeface="Calibri"/>
                <a:ea typeface="Calibri"/>
              </a:rPr>
              <a:t>ation?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40080" y="1417320"/>
            <a:ext cx="374868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640080" y="1417320"/>
            <a:ext cx="63720" cy="11883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868680" y="150876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Extractive </a:t>
            </a: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Summariz</a:t>
            </a: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68680" y="182880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Selects and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copies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existing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sentences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from the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source.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Limited to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the original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wording —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cannot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rephrase or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generalize.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640080" y="2834640"/>
            <a:ext cx="374868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640080" y="2834640"/>
            <a:ext cx="63720" cy="11883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868680" y="292608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Abstractive Summarization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868680" y="324612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Generates novel sentences capturing the source meaning. Requires deep comprehension and fluent language 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generation.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4754880" y="1417320"/>
            <a:ext cx="3931560" cy="2788560"/>
          </a:xfrm>
          <a:prstGeom prst="rect">
            <a:avLst/>
          </a:prstGeom>
          <a:solidFill>
            <a:srgbClr val="0F17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5029200" y="15087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Project Goal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5029200" y="1828800"/>
            <a:ext cx="33829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 a modern Transformer from scratch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Incorporate state-of-the-art components from the LLM era into an encoder-decoder architecture for abstractive summarization.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•  RoPE positional embeddings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•  SwiGLU feed-forward networks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•  Pre-layer RMSNorm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•  Flash Attention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•  Three-way weight tying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640080" y="43891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Trained end-to-end on the Newsroom dataset — no pretraining, no fine-tuning.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64008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Data Pipeline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640080" y="777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284C7"/>
                </a:solidFill>
                <a:effectLst/>
                <a:uFillTx/>
                <a:latin typeface="Calibri"/>
                <a:ea typeface="Calibri"/>
              </a:rPr>
              <a:t>Newsroom Dataset → Clean, Filtered, Tokenized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640080" y="1371600"/>
            <a:ext cx="187416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1280160" y="1554480"/>
            <a:ext cx="502560" cy="5025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1280160" y="1554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777240" y="21945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Text Cleaning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777240" y="256032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HTML unescape, URL/email removal, emoji stripping, whitespace normalization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2523600" y="2331720"/>
            <a:ext cx="136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EA5E9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670120" y="1371600"/>
            <a:ext cx="187416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3310200" y="1554480"/>
            <a:ext cx="502560" cy="5025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3310200" y="1554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2807280" y="21945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Abstractive Filtering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2807280" y="256032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Compression ratio 2–10, exclude extractive density bin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4553640" y="2331720"/>
            <a:ext cx="136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EA5E9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5"/>
          <p:cNvSpPr/>
          <p:nvPr/>
        </p:nvSpPr>
        <p:spPr>
          <a:xfrm>
            <a:off x="4700160" y="1371600"/>
            <a:ext cx="187416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5340240" y="1554480"/>
            <a:ext cx="502560" cy="5025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5340240" y="1554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4837320" y="21945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Deduplication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4837320" y="256032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Test-first strategy via summaries library ensures no train/test leakage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6583680" y="2331720"/>
            <a:ext cx="136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EA5E9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1"/>
          <p:cNvSpPr/>
          <p:nvPr/>
        </p:nvSpPr>
        <p:spPr>
          <a:xfrm>
            <a:off x="6729840" y="1371600"/>
            <a:ext cx="187416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7369920" y="1554480"/>
            <a:ext cx="502560" cy="5025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7369920" y="1554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6867000" y="21945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BPE Tokenization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6867000" y="256032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Custom 50K-vocab tokenizer trained on the dataset, length-filtered: src 10–2000, tgt 1–1000 tokens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6"/>
          <p:cNvSpPr/>
          <p:nvPr/>
        </p:nvSpPr>
        <p:spPr>
          <a:xfrm>
            <a:off x="640080" y="3977640"/>
            <a:ext cx="7863480" cy="822600"/>
          </a:xfrm>
          <a:prstGeom prst="rect">
            <a:avLst/>
          </a:prstGeom>
          <a:solidFill>
            <a:srgbClr val="0F17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777240" y="40233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50,000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777240" y="440748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BPE Vocab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9"/>
          <p:cNvSpPr/>
          <p:nvPr/>
        </p:nvSpPr>
        <p:spPr>
          <a:xfrm>
            <a:off x="2743200" y="40233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87000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0"/>
          <p:cNvSpPr/>
          <p:nvPr/>
        </p:nvSpPr>
        <p:spPr>
          <a:xfrm>
            <a:off x="2743200" y="440748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Filtered Dataset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1"/>
          <p:cNvSpPr/>
          <p:nvPr/>
        </p:nvSpPr>
        <p:spPr>
          <a:xfrm>
            <a:off x="4709160" y="40233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2,000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2"/>
          <p:cNvSpPr/>
          <p:nvPr/>
        </p:nvSpPr>
        <p:spPr>
          <a:xfrm>
            <a:off x="4709160" y="440748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Max Source Tokens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3"/>
          <p:cNvSpPr/>
          <p:nvPr/>
        </p:nvSpPr>
        <p:spPr>
          <a:xfrm>
            <a:off x="6675120" y="40233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1,000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4"/>
          <p:cNvSpPr/>
          <p:nvPr/>
        </p:nvSpPr>
        <p:spPr>
          <a:xfrm>
            <a:off x="6675120" y="440748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Max Target Tokens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640080" y="274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Model Architecture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640080" y="731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EA5E9"/>
                </a:solidFill>
                <a:effectLst/>
                <a:uFillTx/>
                <a:latin typeface="Calibri"/>
                <a:ea typeface="Calibri"/>
              </a:rPr>
              <a:t>~84M parameter Encoder-Decoder Transformer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2" name="Table 0"/>
          <p:cNvGraphicFramePr/>
          <p:nvPr/>
        </p:nvGraphicFramePr>
        <p:xfrm>
          <a:off x="457200" y="1234440"/>
          <a:ext cx="3200040" cy="2660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Value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284C7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d_model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512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Encoder Layers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Decoder Layers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Attention Heads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Head Dim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64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FFN Hidden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1,365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Vocab Size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50,000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29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Dropout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3" name="Shape 3"/>
          <p:cNvSpPr/>
          <p:nvPr/>
        </p:nvSpPr>
        <p:spPr>
          <a:xfrm>
            <a:off x="4114800" y="1234440"/>
            <a:ext cx="4663080" cy="6854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4114800" y="1234440"/>
            <a:ext cx="54360" cy="6854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4297680" y="128016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RoPE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4297680" y="149040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Rotary embeddings encode relative positions directly into Q/K attention vectors. Applied to self-attention only — omitted from cross-attention.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4114800" y="2011680"/>
            <a:ext cx="4663080" cy="6854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4114800" y="2011680"/>
            <a:ext cx="54360" cy="6854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4297680" y="205740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SwiGLU FFN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4297680" y="226764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Gated activation: SiLU(gate(x)) × up(x), then down projection. Hidden dim = 8/3 × d_model for optimal width.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4114800" y="2788920"/>
            <a:ext cx="4663080" cy="6854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4114800" y="2788920"/>
            <a:ext cx="54360" cy="6854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4297680" y="283464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Pre-RMSNorm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4297680" y="304488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Normalize before each sub-layer, not after. Stabilizes gradients and simplifies residual flow.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4114800" y="3566160"/>
            <a:ext cx="4663080" cy="6854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6"/>
          <p:cNvSpPr/>
          <p:nvPr/>
        </p:nvSpPr>
        <p:spPr>
          <a:xfrm>
            <a:off x="4114800" y="3566160"/>
            <a:ext cx="54360" cy="6854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4297680" y="361188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Flash Attention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4297680" y="382212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Fused SDPA kernel avoids materializing the N² attention matrix. O(N) memory, significant speedup.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9"/>
          <p:cNvSpPr/>
          <p:nvPr/>
        </p:nvSpPr>
        <p:spPr>
          <a:xfrm>
            <a:off x="457200" y="4389120"/>
            <a:ext cx="8320680" cy="502560"/>
          </a:xfrm>
          <a:prstGeom prst="rect">
            <a:avLst/>
          </a:prstGeom>
          <a:solidFill>
            <a:srgbClr val="0284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731520" y="440748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Three-Way Weight Tying:  </a:t>
            </a: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Encoder embed = Decoder embed = Output projection.  Single 50K × 512 matrix cuts ~51M parameters.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Training Setup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64008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284C7"/>
                </a:solidFill>
                <a:effectLst/>
                <a:uFillTx/>
                <a:latin typeface="Calibri"/>
                <a:ea typeface="Calibri"/>
              </a:rPr>
              <a:t>Distributed, Mixed-Precision, Compiled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640080" y="1234440"/>
            <a:ext cx="37486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822960" y="1280160"/>
            <a:ext cx="1188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128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2103120" y="13258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Effective Batch Size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2103120" y="16459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4 × 2 GPUs × 16 accum steps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640080" y="2148840"/>
            <a:ext cx="37486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822960" y="2194560"/>
            <a:ext cx="1188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1e⁻⁴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2103120" y="22402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Peak Learning Rate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2103120" y="25603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Cosine decay to 50% after 2K warmup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640080" y="3063240"/>
            <a:ext cx="37486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822960" y="3108960"/>
            <a:ext cx="1188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35K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2103120" y="31546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Steps Trained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2103120" y="34747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Stopped early from 50K target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640080" y="3977640"/>
            <a:ext cx="37486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822960" y="4023360"/>
            <a:ext cx="1188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bf16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2103120" y="40690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Mixed Precision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2103120" y="43891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GradScaler needed (same exponent range)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9"/>
          <p:cNvSpPr/>
          <p:nvPr/>
        </p:nvSpPr>
        <p:spPr>
          <a:xfrm>
            <a:off x="4754880" y="1234440"/>
            <a:ext cx="3931560" cy="3565800"/>
          </a:xfrm>
          <a:prstGeom prst="rect">
            <a:avLst/>
          </a:prstGeom>
          <a:solidFill>
            <a:srgbClr val="0F17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5029200" y="137160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Infrastructure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5029200" y="182880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DDP + NCCL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5029200" y="203004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2-GPU distributed training with model.no_sync() to suppress redundant allreduces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3"/>
          <p:cNvSpPr/>
          <p:nvPr/>
        </p:nvSpPr>
        <p:spPr>
          <a:xfrm>
            <a:off x="5029200" y="237744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torch.compile()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4"/>
          <p:cNvSpPr/>
          <p:nvPr/>
        </p:nvSpPr>
        <p:spPr>
          <a:xfrm>
            <a:off x="5029200" y="257868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Fuses RMSNorm, SwiGLU, embedding ops for 20–30% throughput gain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5029200" y="29260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Gradient Checkpointing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6"/>
          <p:cNvSpPr/>
          <p:nvPr/>
        </p:nvSpPr>
        <p:spPr>
          <a:xfrm>
            <a:off x="5029200" y="312732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Recomputes activations in backward pass, reduces peak memory ~33%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7"/>
          <p:cNvSpPr/>
          <p:nvPr/>
        </p:nvSpPr>
        <p:spPr>
          <a:xfrm>
            <a:off x="5029200" y="347472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Streaming DataLoader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8"/>
          <p:cNvSpPr/>
          <p:nvPr/>
        </p:nvSpPr>
        <p:spPr>
          <a:xfrm>
            <a:off x="5029200" y="36759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Iterable dataset, never loads full data into RAM. 10K shuffle buffer.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9"/>
          <p:cNvSpPr/>
          <p:nvPr/>
        </p:nvSpPr>
        <p:spPr>
          <a:xfrm>
            <a:off x="5029200" y="402336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MLflow Tracking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0"/>
          <p:cNvSpPr/>
          <p:nvPr/>
        </p:nvSpPr>
        <p:spPr>
          <a:xfrm>
            <a:off x="5029200" y="422460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All metrics and hyperparameters logged for reproducibility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64008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172A"/>
                </a:solidFill>
                <a:effectLst/>
                <a:uFillTx/>
                <a:latin typeface="Trebuchet MS"/>
                <a:ea typeface="Trebuchet MS"/>
              </a:rPr>
              <a:t>Training Results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64008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284C7"/>
                </a:solidFill>
                <a:effectLst/>
                <a:uFillTx/>
                <a:latin typeface="Calibri"/>
                <a:ea typeface="Calibri"/>
              </a:rPr>
              <a:t>Loss Curves Over 35,000 Steps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274320" y="1188720"/>
            <a:ext cx="4754520" cy="267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Image 1" descr="preencoded.png"/>
          <p:cNvPicPr/>
          <p:nvPr/>
        </p:nvPicPr>
        <p:blipFill>
          <a:blip r:embed="rId2"/>
          <a:stretch/>
        </p:blipFill>
        <p:spPr>
          <a:xfrm>
            <a:off x="4663440" y="1188720"/>
            <a:ext cx="4297320" cy="241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Shape 3"/>
          <p:cNvSpPr/>
          <p:nvPr/>
        </p:nvSpPr>
        <p:spPr>
          <a:xfrm>
            <a:off x="457200" y="3977640"/>
            <a:ext cx="8229240" cy="868320"/>
          </a:xfrm>
          <a:prstGeom prst="rect">
            <a:avLst/>
          </a:prstGeom>
          <a:solidFill>
            <a:srgbClr val="0F17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548640" y="4023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2C55E"/>
                </a:solidFill>
                <a:effectLst/>
                <a:uFillTx/>
                <a:latin typeface="Trebuchet MS"/>
                <a:ea typeface="Trebuchet MS"/>
              </a:rPr>
              <a:t>2.895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548640" y="44348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Best Val Loss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2606040" y="4023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Step 15K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2606040" y="44348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Best Checkpoint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4663440" y="4023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Trebuchet MS"/>
                <a:ea typeface="Trebuchet MS"/>
              </a:rPr>
              <a:t>~2.0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4663440" y="44348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Final Train Loss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6720840" y="4023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F4444"/>
                </a:solidFill>
                <a:effectLst/>
                <a:uFillTx/>
                <a:latin typeface="Trebuchet MS"/>
                <a:ea typeface="Trebuchet MS"/>
              </a:rPr>
              <a:t>↑ after 15K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6720840" y="443484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Val Loss Trend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640080" y="274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Analysis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640080" y="731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EA5E9"/>
                </a:solidFill>
                <a:effectLst/>
                <a:uFillTx/>
                <a:latin typeface="Calibri"/>
                <a:ea typeface="Calibri"/>
              </a:rPr>
              <a:t>Understanding the Overfitting Pattern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9" name="Table 0"/>
          <p:cNvGraphicFramePr/>
          <p:nvPr/>
        </p:nvGraphicFramePr>
        <p:xfrm>
          <a:off x="457200" y="1188720"/>
          <a:ext cx="3474360" cy="256032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18872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Step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Val Loss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Trend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284C7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5,000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3.829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2C5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↓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10,000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2.957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2C5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↓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15,000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2.895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 Best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C4A6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20,000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2.929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↑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25,000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3.014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↑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30,000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3.131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↑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35,000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3.211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↑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334155"/>
                      </a:solidFill>
                      <a:prstDash val="solid"/>
                    </a:lnL>
                    <a:lnR w="6480">
                      <a:solidFill>
                        <a:srgbClr val="334155"/>
                      </a:solidFill>
                      <a:prstDash val="solid"/>
                    </a:lnR>
                    <a:lnT w="6480">
                      <a:solidFill>
                        <a:srgbClr val="334155"/>
                      </a:solidFill>
                      <a:prstDash val="solid"/>
                    </a:lnT>
                    <a:lnB w="648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40" name="Shape 3"/>
          <p:cNvSpPr/>
          <p:nvPr/>
        </p:nvSpPr>
        <p:spPr>
          <a:xfrm>
            <a:off x="4389120" y="1188720"/>
            <a:ext cx="4388760" cy="914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4389120" y="1188720"/>
            <a:ext cx="54360" cy="9140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4617720" y="126180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F4444"/>
                </a:solidFill>
                <a:effectLst/>
                <a:uFillTx/>
                <a:latin typeface="Trebuchet MS"/>
                <a:ea typeface="Trebuchet MS"/>
              </a:rPr>
              <a:t>High Capacity vs. Data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4617720" y="151776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84M parameters provide more capacity than the filtered dataset can fully utilize. Aggressive quality filtering reduced training examples significantly.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4389120" y="2240280"/>
            <a:ext cx="4388760" cy="914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4389120" y="2240280"/>
            <a:ext cx="54360" cy="9140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4617720" y="231336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9E0B"/>
                </a:solidFill>
                <a:effectLst/>
                <a:uFillTx/>
                <a:latin typeface="Trebuchet MS"/>
                <a:ea typeface="Trebuchet MS"/>
              </a:rPr>
              <a:t>Regularization Gap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4617720" y="256932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Only dropout (0.1) and label smoothing (0.1) were used. No stochastic depth, R-Drop, or data augmentation.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4389120" y="3291840"/>
            <a:ext cx="4388760" cy="914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4389120" y="3291840"/>
            <a:ext cx="54360" cy="91404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4617720" y="33649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2C55E"/>
                </a:solidFill>
                <a:effectLst/>
                <a:uFillTx/>
                <a:latin typeface="Trebuchet MS"/>
                <a:ea typeface="Trebuchet MS"/>
              </a:rPr>
              <a:t>Best Trade-off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4617720" y="362088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Step 15K represents the optimal balance: the model has learned generalizable summarization patterns without yet memorizing training examples.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640080" y="4526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Training was stopped early at 35K steps (of 50K) once the overfitting trend was clear.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364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-914400" y="3200400"/>
            <a:ext cx="3657240" cy="3657240"/>
          </a:xfrm>
          <a:prstGeom prst="ellipse">
            <a:avLst/>
          </a:prstGeom>
          <a:solidFill>
            <a:srgbClr val="0EA5E9">
              <a:alpha val="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640080" y="274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Conclusion &amp; Future Work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457200" y="1005840"/>
            <a:ext cx="4023000" cy="30171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685800" y="114300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EA5E9"/>
                </a:solidFill>
                <a:effectLst/>
                <a:uFillTx/>
                <a:latin typeface="Trebuchet MS"/>
                <a:ea typeface="Trebuchet MS"/>
              </a:rPr>
              <a:t>What We Built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685800" y="1554480"/>
            <a:ext cx="35658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✓  End-to-end summarization system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✓  Modern Transformer from scratch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✓  Custom BPE tokenizer (50K)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✓  Full distributed training pipeline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✓  Best val loss: 2.895 at step 15K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✓  MLflow experiment tracking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4754880" y="1005840"/>
            <a:ext cx="4023000" cy="30171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4983480" y="114300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Trebuchet MS"/>
                <a:ea typeface="Trebuchet MS"/>
              </a:rPr>
              <a:t>Next Steps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4983480" y="1554480"/>
            <a:ext cx="35658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▸  Stronger regularization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  Stochastic depth, R-Drop, higher dropout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▸  Data augmentation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  Backtranslation, paraphrase generation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▸  Pretraining + fine-tuning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  Large unsupervised corpus first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▸  ROUGE &amp; BERTScore evaluation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  Beyond cross-entropy loss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▸  Beam search decoding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    Length norm, repetition penalties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0" y="4343400"/>
            <a:ext cx="9143640" cy="799920"/>
          </a:xfrm>
          <a:prstGeom prst="rect">
            <a:avLst/>
          </a:prstGeom>
          <a:solidFill>
            <a:srgbClr val="0284C7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640080" y="43891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Thank you!  —  Questions?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LibreOffice/26.2.1.2$Linux_X86_64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2026-04-09T19:19:24Z</dcterms:created>
  <dc:creator>Jacob</dc:creator>
  <dc:description/>
  <dc:language>en-US</dc:language>
  <cp:lastModifiedBy/>
  <dcterms:modified xsi:type="dcterms:W3CDTF">2026-04-09T16:06:57Z</dcterms:modified>
  <cp:revision>2</cp:revision>
  <dc:subject>PptxGenJS Presentation</dc:subject>
  <dc:title>Abstractive Text Summarization with a Modern Encoder-Decoder Transformer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